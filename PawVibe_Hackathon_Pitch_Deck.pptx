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7" d="100"/>
          <a:sy n="107" d="100"/>
        </p:scale>
        <p:origin x="71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11254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 (30s):</a:t>
            </a:r>
          </a:p>
          <a:p>
            <a:r>
              <a:t>Hello judges! Today, we are presenting PawVibe — an innovative application that solves a real-world multi-billion dollar problem using Qloo’s Taste Intelligence API. While Qloo models cultural taste correlations across music, film, fashion, and places, PawVibe uses Qloo as a predictive 'Taste-to-Lifestyle' translation layer to match people with the right dog and cat breeds.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 (45s):</a:t>
            </a:r>
          </a:p>
          <a:p>
            <a:r>
              <a:t>Every year, 6.5 million companion animals enter shelters. Almost half of surrenders happen because owners pick pets based on looks rather than daily lifestyle compatibility. A remote worker in a studio adopts a high-drive working dog, or an endurance athlete adopts a sedentary cat. People cannot objectively calculate their lifestyle metrics in a boring questionnaire, but they know their favorite bands, films, and brands. That is where Qloo comes in.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 (45s):</a:t>
            </a:r>
          </a:p>
          <a:p>
            <a:r>
              <a:t>Qloo doesn't have a 'dog breeds' endpoint. But what Qloo DOES have is the world's most sophisticated cultural correlation graph. When a user likes Radiohead, A24 movies, and trail running, Qloo's Insights API tells us what places they visit and what brands they buy. PawVibe ingests these cultural correlations and synthesizes a calibrated 5D Lifestyle Vector, which we then mathematically match against canine and feline breed traits.</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 (40s):</a:t>
            </a:r>
          </a:p>
          <a:p>
            <a:r>
              <a:t>Let's look under the hood. PawVibe is not a static prototype — it connects in real time to hackathon.api.qloo.com. First, we resolve cultural terms into Qloo entity IDs. Then, we query the Insights API for correlated places and brands. You can see in the screenshot right here: when the user enters creative tastes, Qloo extracts affinities like Blinkist and TED Talks, and places tagged as 'Tranquil' and 'Historic'. That live cultural context is directly injected into our matching vector.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 (40s):</a:t>
            </a:r>
          </a:p>
          <a:p>
            <a:r>
              <a:t>We don't use arbitrary keyword matching. We use a formal mathematical distance model. We weight Activity and Living Space slightly higher because animal welfare is most at risk when an active pet is confined in a small space. The engine computes weighted Euclidean distance across the 5 dimensions, calculates a normalized compatibility score, and isolates the exact trait overlaps to provide clear, explainable AI justifications.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 (35s):</a:t>
            </a:r>
          </a:p>
          <a:p>
            <a:r>
              <a:t>Here is the user experience. We designed PawVibe with an editorial, high-end aesthetic inspired by luxury lifestyle magazines. Notice the flat SVG icons, warm beige canvas, and verified high-resolution photography. Each recommendation box features an interactive HTML5 Canvas radar chart overlaying the user's lifestyle vector in gold against the breed's required traits in charcoal grey, giving prospective owners an instant visual comparison.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 (40s):</a:t>
            </a:r>
          </a:p>
          <a:p>
            <a:r>
              <a:t>The pet economy is a $150 billion dollar market. But beyond the commercial opportunity, PawVibe has immense social impact. Because we ingest Qloo brand affinities, we can also recommend personalized gear, food subscriptions, and pet insurance. And by preventing incompatible adoptions before they happen, we keep animals in loving homes and out of shelters.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SCRIPT (30s):</a:t>
            </a:r>
          </a:p>
          <a:p>
            <a:r>
              <a:t>To wrap up: PawVibe stands out because it takes Qloo into a completely fresh, high-impact vertical. It is fully functional, beautifully designed, and connected to the live Qloo Hackathon API. Thank you so much, and we'd love to take any questions or show you a live demo!</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8F5F0"/>
        </a:solidFill>
        <a:effectLst/>
      </p:bgPr>
    </p:bg>
    <p:spTree>
      <p:nvGrpSpPr>
        <p:cNvPr id="1" name=""/>
        <p:cNvGrpSpPr/>
        <p:nvPr/>
      </p:nvGrpSpPr>
      <p:grpSpPr>
        <a:xfrm>
          <a:off x="0" y="0"/>
          <a:ext cx="0" cy="0"/>
          <a:chOff x="0" y="0"/>
          <a:chExt cx="0" cy="0"/>
        </a:xfrm>
      </p:grpSpPr>
      <p:sp>
        <p:nvSpPr>
          <p:cNvPr id="2" name="Rounded Rectangle 1"/>
          <p:cNvSpPr/>
          <p:nvPr/>
        </p:nvSpPr>
        <p:spPr>
          <a:xfrm>
            <a:off x="1097280" y="914400"/>
            <a:ext cx="9997135" cy="5029200"/>
          </a:xfrm>
          <a:prstGeom prst="roundRect">
            <a:avLst/>
          </a:prstGeom>
          <a:solidFill>
            <a:srgbClr val="FFFFFF"/>
          </a:solidFill>
          <a:ln w="12700">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1645920" y="1463040"/>
            <a:ext cx="8686800" cy="365760"/>
          </a:xfrm>
          <a:prstGeom prst="rect">
            <a:avLst/>
          </a:prstGeom>
          <a:noFill/>
        </p:spPr>
        <p:txBody>
          <a:bodyPr wrap="none">
            <a:spAutoFit/>
          </a:bodyPr>
          <a:lstStyle/>
          <a:p>
            <a:pPr>
              <a:defRPr sz="1100" b="1">
                <a:solidFill>
                  <a:srgbClr val="A7843D"/>
                </a:solidFill>
              </a:defRPr>
            </a:pPr>
            <a:r>
              <a:t>QLOO AGENTIC &amp; CULTURAL AI HACKATHON 2026</a:t>
            </a:r>
          </a:p>
        </p:txBody>
      </p:sp>
      <p:sp>
        <p:nvSpPr>
          <p:cNvPr id="4" name="TextBox 3"/>
          <p:cNvSpPr txBox="1"/>
          <p:nvPr/>
        </p:nvSpPr>
        <p:spPr>
          <a:xfrm>
            <a:off x="1645920" y="1828800"/>
            <a:ext cx="8686800" cy="1097280"/>
          </a:xfrm>
          <a:prstGeom prst="rect">
            <a:avLst/>
          </a:prstGeom>
          <a:noFill/>
        </p:spPr>
        <p:txBody>
          <a:bodyPr wrap="none">
            <a:spAutoFit/>
          </a:bodyPr>
          <a:lstStyle/>
          <a:p>
            <a:pPr>
              <a:defRPr sz="4600" b="1">
                <a:solidFill>
                  <a:srgbClr val="211F1D"/>
                </a:solidFill>
              </a:defRPr>
            </a:pPr>
            <a:r>
              <a:rPr dirty="0" err="1"/>
              <a:t>PawVibe</a:t>
            </a:r>
            <a:endParaRPr dirty="0"/>
          </a:p>
        </p:txBody>
      </p:sp>
      <p:sp>
        <p:nvSpPr>
          <p:cNvPr id="5" name="TextBox 4"/>
          <p:cNvSpPr txBox="1"/>
          <p:nvPr/>
        </p:nvSpPr>
        <p:spPr>
          <a:xfrm>
            <a:off x="1645920" y="2834640"/>
            <a:ext cx="5426486" cy="369332"/>
          </a:xfrm>
          <a:prstGeom prst="rect">
            <a:avLst/>
          </a:prstGeom>
          <a:noFill/>
        </p:spPr>
        <p:txBody>
          <a:bodyPr wrap="none">
            <a:spAutoFit/>
          </a:bodyPr>
          <a:lstStyle/>
          <a:p>
            <a:pPr>
              <a:defRPr sz="1800" b="1">
                <a:solidFill>
                  <a:srgbClr val="A7843D"/>
                </a:solidFill>
              </a:defRPr>
            </a:pPr>
            <a:r>
              <a:rPr dirty="0"/>
              <a:t>Bridging Cultural Taste Intelligence to </a:t>
            </a:r>
            <a:r>
              <a:rPr lang="en-US" dirty="0"/>
              <a:t>Pet </a:t>
            </a:r>
            <a:r>
              <a:rPr dirty="0"/>
              <a:t>Compatibility</a:t>
            </a:r>
          </a:p>
        </p:txBody>
      </p:sp>
      <p:sp>
        <p:nvSpPr>
          <p:cNvPr id="6" name="TextBox 5"/>
          <p:cNvSpPr txBox="1"/>
          <p:nvPr/>
        </p:nvSpPr>
        <p:spPr>
          <a:xfrm>
            <a:off x="1645920" y="3520440"/>
            <a:ext cx="8229600" cy="731520"/>
          </a:xfrm>
          <a:prstGeom prst="rect">
            <a:avLst/>
          </a:prstGeom>
          <a:noFill/>
        </p:spPr>
        <p:txBody>
          <a:bodyPr wrap="square">
            <a:spAutoFit/>
          </a:bodyPr>
          <a:lstStyle/>
          <a:p>
            <a:pPr>
              <a:defRPr sz="1300" i="1">
                <a:solidFill>
                  <a:srgbClr val="54504A"/>
                </a:solidFill>
              </a:defRPr>
            </a:pPr>
            <a:r>
              <a:rPr dirty="0"/>
              <a:t>“Your tastes define your routine. Your routine chooses your pet.”</a:t>
            </a:r>
            <a:br>
              <a:rPr dirty="0"/>
            </a:br>
            <a:r>
              <a:rPr dirty="0"/>
              <a:t>Turning music, cinema, dining, and neighborhood rhythms into predictive 5D pet lifestyle vectors.</a:t>
            </a:r>
          </a:p>
        </p:txBody>
      </p:sp>
      <p:sp>
        <p:nvSpPr>
          <p:cNvPr id="7" name="TextBox 6"/>
          <p:cNvSpPr txBox="1"/>
          <p:nvPr/>
        </p:nvSpPr>
        <p:spPr>
          <a:xfrm>
            <a:off x="1645920" y="4480560"/>
            <a:ext cx="8686800" cy="731520"/>
          </a:xfrm>
          <a:prstGeom prst="rect">
            <a:avLst/>
          </a:prstGeom>
          <a:noFill/>
        </p:spPr>
        <p:txBody>
          <a:bodyPr wrap="none">
            <a:spAutoFit/>
          </a:bodyPr>
          <a:lstStyle/>
          <a:p>
            <a:pPr>
              <a:defRPr sz="1100" b="1">
                <a:solidFill>
                  <a:srgbClr val="7A746B"/>
                </a:solidFill>
              </a:defRPr>
            </a:pPr>
            <a:r>
              <a:t>• Live Qloo API (Entity Search &amp; Cross-Domain Insights)   • 5D Euclidean Matching   • 24 Curated Dog &amp; Cat Breeds</a:t>
            </a:r>
          </a:p>
        </p:txBody>
      </p:sp>
    </p:spTree>
  </p:cSld>
  <p:clrMapOvr>
    <a:masterClrMapping/>
  </p:clrMapOvr>
  <mc:AlternateContent xmlns:mc="http://schemas.openxmlformats.org/markup-compatibility/2006">
    <mc:Choice xmlns:p14="http://schemas.microsoft.com/office/powerpoint/2010/main" Requires="p14">
      <p:transition spd="slow" p14:dur="2000" advTm="94585"/>
    </mc:Choice>
    <mc:Fallback>
      <p:transition spd="slow" advTm="9458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8F5F0"/>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515600" cy="320040"/>
          </a:xfrm>
          <a:prstGeom prst="rect">
            <a:avLst/>
          </a:prstGeom>
          <a:noFill/>
        </p:spPr>
        <p:txBody>
          <a:bodyPr wrap="square">
            <a:spAutoFit/>
          </a:bodyPr>
          <a:lstStyle/>
          <a:p>
            <a:pPr>
              <a:defRPr sz="1000" b="1">
                <a:solidFill>
                  <a:srgbClr val="A7843D"/>
                </a:solidFill>
              </a:defRPr>
            </a:pPr>
            <a:r>
              <a:t>THE REAL-WORLD PROBLEM</a:t>
            </a:r>
          </a:p>
        </p:txBody>
      </p:sp>
      <p:sp>
        <p:nvSpPr>
          <p:cNvPr id="3" name="TextBox 2"/>
          <p:cNvSpPr txBox="1"/>
          <p:nvPr/>
        </p:nvSpPr>
        <p:spPr>
          <a:xfrm>
            <a:off x="731520" y="685800"/>
            <a:ext cx="10515600" cy="640080"/>
          </a:xfrm>
          <a:prstGeom prst="rect">
            <a:avLst/>
          </a:prstGeom>
          <a:noFill/>
        </p:spPr>
        <p:txBody>
          <a:bodyPr wrap="square">
            <a:spAutoFit/>
          </a:bodyPr>
          <a:lstStyle/>
          <a:p>
            <a:pPr>
              <a:defRPr sz="2400" b="1">
                <a:solidFill>
                  <a:srgbClr val="211F1D"/>
                </a:solidFill>
              </a:defRPr>
            </a:pPr>
            <a:r>
              <a:rPr dirty="0"/>
              <a:t>The Pet-Lifestyle Mismatch Crisis</a:t>
            </a:r>
          </a:p>
        </p:txBody>
      </p:sp>
      <p:sp>
        <p:nvSpPr>
          <p:cNvPr id="4" name="TextBox 3"/>
          <p:cNvSpPr txBox="1"/>
          <p:nvPr/>
        </p:nvSpPr>
        <p:spPr>
          <a:xfrm>
            <a:off x="731520" y="1234440"/>
            <a:ext cx="10515600" cy="411480"/>
          </a:xfrm>
          <a:prstGeom prst="rect">
            <a:avLst/>
          </a:prstGeom>
          <a:noFill/>
        </p:spPr>
        <p:txBody>
          <a:bodyPr wrap="square">
            <a:spAutoFit/>
          </a:bodyPr>
          <a:lstStyle/>
          <a:p>
            <a:pPr>
              <a:defRPr sz="1300">
                <a:solidFill>
                  <a:srgbClr val="54504A"/>
                </a:solidFill>
              </a:defRPr>
            </a:pPr>
            <a:r>
              <a:t>Why millions of animal adoptions fail despite good intentions</a:t>
            </a:r>
          </a:p>
        </p:txBody>
      </p:sp>
      <p:sp>
        <p:nvSpPr>
          <p:cNvPr id="5" name="Rounded Rectangle 4"/>
          <p:cNvSpPr/>
          <p:nvPr/>
        </p:nvSpPr>
        <p:spPr>
          <a:xfrm>
            <a:off x="731520" y="1828800"/>
            <a:ext cx="3291840" cy="4389120"/>
          </a:xfrm>
          <a:prstGeom prst="roundRect">
            <a:avLst/>
          </a:prstGeom>
          <a:solidFill>
            <a:srgbClr val="FFFFFF"/>
          </a:solidFill>
          <a:ln w="12700">
            <a:solidFill>
              <a:srgbClr val="E7E2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011680"/>
            <a:ext cx="2926080" cy="4023360"/>
          </a:xfrm>
          <a:prstGeom prst="rect">
            <a:avLst/>
          </a:prstGeom>
          <a:noFill/>
        </p:spPr>
        <p:txBody>
          <a:bodyPr wrap="square">
            <a:spAutoFit/>
          </a:bodyPr>
          <a:lstStyle/>
          <a:p>
            <a:pPr>
              <a:defRPr sz="3200" b="1">
                <a:solidFill>
                  <a:srgbClr val="A7843D"/>
                </a:solidFill>
              </a:defRPr>
            </a:pPr>
            <a:r>
              <a:rPr dirty="0"/>
              <a:t>6.5 Million</a:t>
            </a:r>
          </a:p>
          <a:p>
            <a:pPr>
              <a:defRPr sz="1300" b="1">
                <a:solidFill>
                  <a:srgbClr val="211F1D"/>
                </a:solidFill>
              </a:defRPr>
            </a:pPr>
            <a:r>
              <a:rPr dirty="0"/>
              <a:t>Pets in US Shelters Annually</a:t>
            </a:r>
            <a:br>
              <a:rPr dirty="0"/>
            </a:br>
            <a:endParaRPr dirty="0"/>
          </a:p>
          <a:p>
            <a:pPr>
              <a:defRPr sz="1100">
                <a:solidFill>
                  <a:srgbClr val="54504A"/>
                </a:solidFill>
              </a:defRPr>
            </a:pPr>
            <a:r>
              <a:rPr dirty="0"/>
              <a:t>Over 6.5 million companion animals enter shelters each year. Up to 47% of rehoming decisions stem from lifestyle incompatibilities: energy mismatches, unexpected noise, space constraints, or travel frequency.</a:t>
            </a:r>
          </a:p>
        </p:txBody>
      </p:sp>
      <p:sp>
        <p:nvSpPr>
          <p:cNvPr id="7" name="Rounded Rectangle 6"/>
          <p:cNvSpPr/>
          <p:nvPr/>
        </p:nvSpPr>
        <p:spPr>
          <a:xfrm>
            <a:off x="4389120" y="1828800"/>
            <a:ext cx="3291840" cy="4389120"/>
          </a:xfrm>
          <a:prstGeom prst="roundRect">
            <a:avLst/>
          </a:prstGeom>
          <a:solidFill>
            <a:srgbClr val="FFFFFF"/>
          </a:solidFill>
          <a:ln w="12700">
            <a:solidFill>
              <a:srgbClr val="E7E2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72000" y="2011680"/>
            <a:ext cx="2926080" cy="4023360"/>
          </a:xfrm>
          <a:prstGeom prst="rect">
            <a:avLst/>
          </a:prstGeom>
          <a:noFill/>
        </p:spPr>
        <p:txBody>
          <a:bodyPr wrap="square">
            <a:spAutoFit/>
          </a:bodyPr>
          <a:lstStyle/>
          <a:p>
            <a:pPr>
              <a:defRPr sz="2800" b="1">
                <a:solidFill>
                  <a:srgbClr val="211F1D"/>
                </a:solidFill>
              </a:defRPr>
            </a:pPr>
            <a:r>
              <a:rPr dirty="0"/>
              <a:t>The Flawed Choice</a:t>
            </a:r>
          </a:p>
          <a:p>
            <a:pPr>
              <a:defRPr sz="1300" b="1">
                <a:solidFill>
                  <a:srgbClr val="A7843D"/>
                </a:solidFill>
              </a:defRPr>
            </a:pPr>
            <a:r>
              <a:rPr dirty="0"/>
              <a:t>Adoption by Aesthetics</a:t>
            </a:r>
            <a:br>
              <a:rPr dirty="0"/>
            </a:br>
            <a:endParaRPr dirty="0"/>
          </a:p>
          <a:p>
            <a:pPr>
              <a:defRPr sz="1100">
                <a:solidFill>
                  <a:srgbClr val="54504A"/>
                </a:solidFill>
              </a:defRPr>
            </a:pPr>
            <a:r>
              <a:rPr dirty="0"/>
              <a:t>Owners typically adopt based on social media trends or cute looks (e.g. an apartment worker buying a working Australian Shepherd or Border Collie). People rarely quantify their daily energy, soundscape, and habitat until it's too late.</a:t>
            </a:r>
          </a:p>
        </p:txBody>
      </p:sp>
      <p:sp>
        <p:nvSpPr>
          <p:cNvPr id="9" name="Rounded Rectangle 8"/>
          <p:cNvSpPr/>
          <p:nvPr/>
        </p:nvSpPr>
        <p:spPr>
          <a:xfrm>
            <a:off x="8046720" y="1828800"/>
            <a:ext cx="3383280" cy="4389120"/>
          </a:xfrm>
          <a:prstGeom prst="roundRect">
            <a:avLst/>
          </a:prstGeom>
          <a:solidFill>
            <a:srgbClr val="FFFFFF"/>
          </a:solidFill>
          <a:ln w="12700">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2011680"/>
            <a:ext cx="3017520" cy="4023360"/>
          </a:xfrm>
          <a:prstGeom prst="rect">
            <a:avLst/>
          </a:prstGeom>
          <a:noFill/>
        </p:spPr>
        <p:txBody>
          <a:bodyPr wrap="square">
            <a:spAutoFit/>
          </a:bodyPr>
          <a:lstStyle/>
          <a:p>
            <a:pPr>
              <a:defRPr sz="2800" b="1">
                <a:solidFill>
                  <a:srgbClr val="A7843D"/>
                </a:solidFill>
              </a:defRPr>
            </a:pPr>
            <a:r>
              <a:rPr dirty="0"/>
              <a:t>The Opportunity</a:t>
            </a:r>
          </a:p>
          <a:p>
            <a:pPr>
              <a:defRPr sz="1300" b="1">
                <a:solidFill>
                  <a:srgbClr val="211F1D"/>
                </a:solidFill>
              </a:defRPr>
            </a:pPr>
            <a:r>
              <a:rPr dirty="0"/>
              <a:t>Taste Predicts Lifestyle</a:t>
            </a:r>
            <a:br>
              <a:rPr dirty="0"/>
            </a:br>
            <a:endParaRPr dirty="0"/>
          </a:p>
          <a:p>
            <a:pPr>
              <a:defRPr sz="1100">
                <a:solidFill>
                  <a:srgbClr val="54504A"/>
                </a:solidFill>
              </a:defRPr>
            </a:pPr>
            <a:r>
              <a:rPr dirty="0"/>
              <a:t>People struggle to evaluate their own physical routine in numbers. However, they easily know their favorite music artists, films, clothing brands, dining spots, and hobbies. These cultural tastes hold the hidden blueprint of how they live.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5F0"/>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515600" cy="320040"/>
          </a:xfrm>
          <a:prstGeom prst="rect">
            <a:avLst/>
          </a:prstGeom>
          <a:noFill/>
        </p:spPr>
        <p:txBody>
          <a:bodyPr wrap="square">
            <a:spAutoFit/>
          </a:bodyPr>
          <a:lstStyle/>
          <a:p>
            <a:pPr>
              <a:defRPr sz="1000" b="1">
                <a:solidFill>
                  <a:srgbClr val="A7843D"/>
                </a:solidFill>
              </a:defRPr>
            </a:pPr>
            <a:r>
              <a:t>THE CORE BREAKTHROUGH</a:t>
            </a:r>
          </a:p>
        </p:txBody>
      </p:sp>
      <p:sp>
        <p:nvSpPr>
          <p:cNvPr id="3" name="TextBox 2"/>
          <p:cNvSpPr txBox="1"/>
          <p:nvPr/>
        </p:nvSpPr>
        <p:spPr>
          <a:xfrm>
            <a:off x="731520" y="685800"/>
            <a:ext cx="10515600" cy="640080"/>
          </a:xfrm>
          <a:prstGeom prst="rect">
            <a:avLst/>
          </a:prstGeom>
          <a:noFill/>
        </p:spPr>
        <p:txBody>
          <a:bodyPr wrap="square">
            <a:spAutoFit/>
          </a:bodyPr>
          <a:lstStyle/>
          <a:p>
            <a:pPr>
              <a:defRPr sz="2400" b="1">
                <a:solidFill>
                  <a:srgbClr val="211F1D"/>
                </a:solidFill>
              </a:defRPr>
            </a:pPr>
            <a:r>
              <a:rPr dirty="0" err="1"/>
              <a:t>Qloo</a:t>
            </a:r>
            <a:r>
              <a:rPr dirty="0"/>
              <a:t> as a Taste-to-Lifestyle Translation Layer</a:t>
            </a:r>
          </a:p>
        </p:txBody>
      </p:sp>
      <p:sp>
        <p:nvSpPr>
          <p:cNvPr id="4" name="TextBox 3"/>
          <p:cNvSpPr txBox="1"/>
          <p:nvPr/>
        </p:nvSpPr>
        <p:spPr>
          <a:xfrm>
            <a:off x="731520" y="1234440"/>
            <a:ext cx="10515600" cy="411480"/>
          </a:xfrm>
          <a:prstGeom prst="rect">
            <a:avLst/>
          </a:prstGeom>
          <a:noFill/>
        </p:spPr>
        <p:txBody>
          <a:bodyPr wrap="square">
            <a:spAutoFit/>
          </a:bodyPr>
          <a:lstStyle/>
          <a:p>
            <a:pPr>
              <a:defRPr sz="1300">
                <a:solidFill>
                  <a:srgbClr val="54504A"/>
                </a:solidFill>
              </a:defRPr>
            </a:pPr>
            <a:r>
              <a:t>How cultural graph affinities map to biological breed traits</a:t>
            </a:r>
          </a:p>
        </p:txBody>
      </p:sp>
      <p:sp>
        <p:nvSpPr>
          <p:cNvPr id="5" name="Rounded Rectangle 4"/>
          <p:cNvSpPr/>
          <p:nvPr/>
        </p:nvSpPr>
        <p:spPr>
          <a:xfrm>
            <a:off x="731520" y="1828800"/>
            <a:ext cx="5120640" cy="4389120"/>
          </a:xfrm>
          <a:prstGeom prst="roundRect">
            <a:avLst/>
          </a:prstGeom>
          <a:solidFill>
            <a:srgbClr val="FFFFFF"/>
          </a:solidFill>
          <a:ln w="12700">
            <a:solidFill>
              <a:srgbClr val="E7E2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2011680"/>
            <a:ext cx="4572000" cy="4023360"/>
          </a:xfrm>
          <a:prstGeom prst="rect">
            <a:avLst/>
          </a:prstGeom>
          <a:noFill/>
        </p:spPr>
        <p:txBody>
          <a:bodyPr wrap="square">
            <a:spAutoFit/>
          </a:bodyPr>
          <a:lstStyle/>
          <a:p>
            <a:pPr>
              <a:defRPr sz="1800" b="1">
                <a:solidFill>
                  <a:srgbClr val="211F1D"/>
                </a:solidFill>
              </a:defRPr>
            </a:pPr>
            <a:r>
              <a:t>Why Traditional Methods Fail</a:t>
            </a:r>
          </a:p>
          <a:p>
            <a:pPr>
              <a:defRPr sz="1100" b="1">
                <a:solidFill>
                  <a:srgbClr val="A7843D"/>
                </a:solidFill>
              </a:defRPr>
            </a:pPr>
            <a:r>
              <a:t>• No Biological Data in Qloo: </a:t>
            </a:r>
            <a:r>
              <a:rPr b="0">
                <a:solidFill>
                  <a:srgbClr val="54504A"/>
                </a:solidFill>
              </a:rPr>
              <a:t>Qloo doesn't index animal genetics or pet breeds directly.</a:t>
            </a:r>
          </a:p>
          <a:p>
            <a:pPr>
              <a:defRPr sz="1100" b="1">
                <a:solidFill>
                  <a:srgbClr val="A7843D"/>
                </a:solidFill>
              </a:defRPr>
            </a:pPr>
            <a:r>
              <a:t>• Inaccurate Self-Reporting: </a:t>
            </a:r>
            <a:r>
              <a:rPr b="0">
                <a:solidFill>
                  <a:srgbClr val="54504A"/>
                </a:solidFill>
              </a:rPr>
              <a:t>Users in standard pet quizzes overstate their activity and understate their travel.</a:t>
            </a:r>
          </a:p>
          <a:p>
            <a:pPr>
              <a:defRPr sz="1100" b="1">
                <a:solidFill>
                  <a:srgbClr val="A7843D"/>
                </a:solidFill>
              </a:defRPr>
            </a:pPr>
            <a:r>
              <a:t>• The Missing Link: </a:t>
            </a:r>
            <a:r>
              <a:rPr b="0">
                <a:solidFill>
                  <a:srgbClr val="54504A"/>
                </a:solidFill>
              </a:rPr>
              <a:t>There has never been a bridge connecting cultural consumer taste with physical pet breed temperaments.</a:t>
            </a:r>
          </a:p>
        </p:txBody>
      </p:sp>
      <p:sp>
        <p:nvSpPr>
          <p:cNvPr id="7" name="Rounded Rectangle 6"/>
          <p:cNvSpPr/>
          <p:nvPr/>
        </p:nvSpPr>
        <p:spPr>
          <a:xfrm>
            <a:off x="6217920" y="1828800"/>
            <a:ext cx="5212080" cy="4389120"/>
          </a:xfrm>
          <a:prstGeom prst="roundRect">
            <a:avLst/>
          </a:prstGeom>
          <a:solidFill>
            <a:srgbClr val="F3EFE8"/>
          </a:solidFill>
          <a:ln w="12700">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2240" y="2011680"/>
            <a:ext cx="4663440" cy="4023360"/>
          </a:xfrm>
          <a:prstGeom prst="rect">
            <a:avLst/>
          </a:prstGeom>
          <a:noFill/>
        </p:spPr>
        <p:txBody>
          <a:bodyPr wrap="square">
            <a:spAutoFit/>
          </a:bodyPr>
          <a:lstStyle/>
          <a:p>
            <a:pPr>
              <a:defRPr sz="1800" b="1">
                <a:solidFill>
                  <a:srgbClr val="211F1D"/>
                </a:solidFill>
              </a:defRPr>
            </a:pPr>
            <a:r>
              <a:rPr dirty="0"/>
              <a:t>The </a:t>
            </a:r>
            <a:r>
              <a:rPr dirty="0" err="1"/>
              <a:t>PawVibe</a:t>
            </a:r>
            <a:r>
              <a:rPr dirty="0"/>
              <a:t> Translation Engine</a:t>
            </a:r>
          </a:p>
          <a:p>
            <a:pPr>
              <a:defRPr sz="1100" b="1">
                <a:solidFill>
                  <a:srgbClr val="211F1D"/>
                </a:solidFill>
              </a:defRPr>
            </a:pPr>
            <a:r>
              <a:rPr dirty="0"/>
              <a:t>1. Ingest Cultural Taste: </a:t>
            </a:r>
            <a:r>
              <a:rPr dirty="0">
                <a:solidFill>
                  <a:srgbClr val="54504A"/>
                </a:solidFill>
              </a:rPr>
              <a:t>Favorite bands (Radiohead), cinema (A24), fashion, outdoor brands (Patagonia), and neighborhood.</a:t>
            </a:r>
          </a:p>
          <a:p>
            <a:pPr>
              <a:defRPr sz="1100" b="1">
                <a:solidFill>
                  <a:srgbClr val="211F1D"/>
                </a:solidFill>
              </a:defRPr>
            </a:pPr>
            <a:r>
              <a:rPr dirty="0"/>
              <a:t>2. Cross-Domain Extraction: </a:t>
            </a:r>
            <a:r>
              <a:rPr dirty="0" err="1">
                <a:solidFill>
                  <a:srgbClr val="54504A"/>
                </a:solidFill>
              </a:rPr>
              <a:t>Qloo's</a:t>
            </a:r>
            <a:r>
              <a:rPr dirty="0">
                <a:solidFill>
                  <a:srgbClr val="54504A"/>
                </a:solidFill>
              </a:rPr>
              <a:t> Live Insights API outputs correlated places, brands, and venue tags (Tranquil, Historic, Parks, Nightlife).</a:t>
            </a:r>
          </a:p>
          <a:p>
            <a:pPr>
              <a:defRPr sz="1100" b="1">
                <a:solidFill>
                  <a:srgbClr val="211F1D"/>
                </a:solidFill>
              </a:defRPr>
            </a:pPr>
            <a:r>
              <a:rPr dirty="0"/>
              <a:t>3. 5D Vector Synthesis: </a:t>
            </a:r>
            <a:r>
              <a:rPr dirty="0">
                <a:solidFill>
                  <a:srgbClr val="54504A"/>
                </a:solidFill>
              </a:rPr>
              <a:t>Transforms affinities into calibrated 1-5 vectors across: Activity, Space, Social, Routine, and Noise.</a:t>
            </a:r>
          </a:p>
          <a:p>
            <a:pPr>
              <a:defRPr sz="1100" b="1">
                <a:solidFill>
                  <a:srgbClr val="211F1D"/>
                </a:solidFill>
              </a:defRPr>
            </a:pPr>
            <a:r>
              <a:rPr dirty="0"/>
              <a:t>4. Mathematical Trait Distance: </a:t>
            </a:r>
            <a:r>
              <a:rPr dirty="0">
                <a:solidFill>
                  <a:srgbClr val="54504A"/>
                </a:solidFill>
              </a:rPr>
              <a:t>Computes weighted Euclidean distance against curated trait profiles for 24 Dog and Cat breeds.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5F0"/>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515600" cy="320040"/>
          </a:xfrm>
          <a:prstGeom prst="rect">
            <a:avLst/>
          </a:prstGeom>
          <a:noFill/>
        </p:spPr>
        <p:txBody>
          <a:bodyPr wrap="square">
            <a:spAutoFit/>
          </a:bodyPr>
          <a:lstStyle/>
          <a:p>
            <a:pPr>
              <a:defRPr sz="1000" b="1">
                <a:solidFill>
                  <a:srgbClr val="A7843D"/>
                </a:solidFill>
              </a:defRPr>
            </a:pPr>
            <a:r>
              <a:t>TECHNICAL ARCHITECTURE</a:t>
            </a:r>
          </a:p>
        </p:txBody>
      </p:sp>
      <p:sp>
        <p:nvSpPr>
          <p:cNvPr id="3" name="TextBox 2"/>
          <p:cNvSpPr txBox="1"/>
          <p:nvPr/>
        </p:nvSpPr>
        <p:spPr>
          <a:xfrm>
            <a:off x="731520" y="685800"/>
            <a:ext cx="10515600" cy="640080"/>
          </a:xfrm>
          <a:prstGeom prst="rect">
            <a:avLst/>
          </a:prstGeom>
          <a:noFill/>
        </p:spPr>
        <p:txBody>
          <a:bodyPr wrap="square">
            <a:spAutoFit/>
          </a:bodyPr>
          <a:lstStyle/>
          <a:p>
            <a:pPr>
              <a:defRPr sz="2400" b="1">
                <a:solidFill>
                  <a:srgbClr val="211F1D"/>
                </a:solidFill>
              </a:defRPr>
            </a:pPr>
            <a:r>
              <a:t>Live Qloo Hackathon API Integration</a:t>
            </a:r>
          </a:p>
        </p:txBody>
      </p:sp>
      <p:sp>
        <p:nvSpPr>
          <p:cNvPr id="4" name="TextBox 3"/>
          <p:cNvSpPr txBox="1"/>
          <p:nvPr/>
        </p:nvSpPr>
        <p:spPr>
          <a:xfrm>
            <a:off x="731520" y="1234440"/>
            <a:ext cx="10515600" cy="411480"/>
          </a:xfrm>
          <a:prstGeom prst="rect">
            <a:avLst/>
          </a:prstGeom>
          <a:noFill/>
        </p:spPr>
        <p:txBody>
          <a:bodyPr wrap="square">
            <a:spAutoFit/>
          </a:bodyPr>
          <a:lstStyle/>
          <a:p>
            <a:pPr>
              <a:defRPr sz="1300">
                <a:solidFill>
                  <a:srgbClr val="54504A"/>
                </a:solidFill>
              </a:defRPr>
            </a:pPr>
            <a:r>
              <a:t>Real-time queries to https://hackathon.api.qloo.com via X-Api-Key</a:t>
            </a:r>
          </a:p>
        </p:txBody>
      </p:sp>
      <p:sp>
        <p:nvSpPr>
          <p:cNvPr id="5" name="Rounded Rectangle 4"/>
          <p:cNvSpPr/>
          <p:nvPr/>
        </p:nvSpPr>
        <p:spPr>
          <a:xfrm>
            <a:off x="731520" y="1828800"/>
            <a:ext cx="5029200" cy="4389120"/>
          </a:xfrm>
          <a:prstGeom prst="roundRect">
            <a:avLst/>
          </a:prstGeom>
          <a:solidFill>
            <a:srgbClr val="FFFFFF"/>
          </a:solidFill>
          <a:ln w="12700">
            <a:solidFill>
              <a:srgbClr val="E7E2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011680"/>
            <a:ext cx="4663440" cy="4023360"/>
          </a:xfrm>
          <a:prstGeom prst="rect">
            <a:avLst/>
          </a:prstGeom>
          <a:noFill/>
        </p:spPr>
        <p:txBody>
          <a:bodyPr wrap="square">
            <a:spAutoFit/>
          </a:bodyPr>
          <a:lstStyle/>
          <a:p>
            <a:pPr>
              <a:defRPr sz="1800" b="1">
                <a:solidFill>
                  <a:srgbClr val="211F1D"/>
                </a:solidFill>
              </a:defRPr>
            </a:pPr>
            <a:r>
              <a:rPr dirty="0"/>
              <a:t>Two-Tier </a:t>
            </a:r>
            <a:r>
              <a:rPr dirty="0" err="1"/>
              <a:t>Qloo</a:t>
            </a:r>
            <a:r>
              <a:rPr dirty="0"/>
              <a:t> Query Engine</a:t>
            </a:r>
          </a:p>
          <a:p>
            <a:pPr>
              <a:defRPr sz="1200" b="1">
                <a:solidFill>
                  <a:srgbClr val="A7843D"/>
                </a:solidFill>
              </a:defRPr>
            </a:pPr>
            <a:r>
              <a:rPr dirty="0"/>
              <a:t>Step 1: Entity Resolution (/search)</a:t>
            </a:r>
          </a:p>
          <a:p>
            <a:pPr>
              <a:defRPr sz="1000">
                <a:solidFill>
                  <a:srgbClr val="54504A"/>
                </a:solidFill>
              </a:defRPr>
            </a:pPr>
            <a:r>
              <a:rPr dirty="0"/>
              <a:t>User signals (e.g. 'Radiohead', 'Patagonia') are queried via GET /</a:t>
            </a:r>
            <a:r>
              <a:rPr dirty="0" err="1"/>
              <a:t>search?query</a:t>
            </a:r>
            <a:r>
              <a:rPr dirty="0"/>
              <a:t>={item}.</a:t>
            </a:r>
            <a:br>
              <a:rPr dirty="0"/>
            </a:br>
            <a:r>
              <a:rPr dirty="0"/>
              <a:t>Returns verified </a:t>
            </a:r>
            <a:r>
              <a:rPr dirty="0" err="1"/>
              <a:t>Qloo</a:t>
            </a:r>
            <a:r>
              <a:rPr dirty="0"/>
              <a:t> URN entity IDs (e.g. 70CAE5BF-2F4C... type: </a:t>
            </a:r>
            <a:r>
              <a:rPr dirty="0" err="1"/>
              <a:t>urn:entity:artist</a:t>
            </a:r>
            <a:r>
              <a:rPr dirty="0"/>
              <a:t>).</a:t>
            </a:r>
          </a:p>
          <a:p>
            <a:pPr>
              <a:defRPr sz="1200" b="1">
                <a:solidFill>
                  <a:srgbClr val="A7843D"/>
                </a:solidFill>
              </a:defRPr>
            </a:pPr>
            <a:r>
              <a:rPr dirty="0"/>
              <a:t>Step 2: Places Insights (/v2/insights)</a:t>
            </a:r>
          </a:p>
          <a:p>
            <a:pPr>
              <a:defRPr sz="1000">
                <a:solidFill>
                  <a:srgbClr val="54504A"/>
                </a:solidFill>
              </a:defRPr>
            </a:pPr>
            <a:r>
              <a:rPr dirty="0"/>
              <a:t>Queries GET /v2/insights with </a:t>
            </a:r>
            <a:r>
              <a:rPr dirty="0" err="1"/>
              <a:t>signal.interests.entities</a:t>
            </a:r>
            <a:r>
              <a:rPr dirty="0"/>
              <a:t>={</a:t>
            </a:r>
            <a:r>
              <a:rPr dirty="0" err="1"/>
              <a:t>entity_ids</a:t>
            </a:r>
            <a:r>
              <a:rPr dirty="0"/>
              <a:t>}&amp;</a:t>
            </a:r>
            <a:r>
              <a:rPr dirty="0" err="1"/>
              <a:t>filter.type</a:t>
            </a:r>
            <a:r>
              <a:rPr dirty="0"/>
              <a:t>=</a:t>
            </a:r>
            <a:r>
              <a:rPr dirty="0" err="1"/>
              <a:t>urn:entity:place</a:t>
            </a:r>
            <a:r>
              <a:rPr dirty="0"/>
              <a:t>.</a:t>
            </a:r>
            <a:br>
              <a:rPr dirty="0"/>
            </a:br>
            <a:r>
              <a:rPr dirty="0"/>
              <a:t>Extracts place archetypes &amp; tags: Tranquil, Historic, Nature conservation, Park.</a:t>
            </a:r>
          </a:p>
          <a:p>
            <a:pPr>
              <a:defRPr sz="1200" b="1">
                <a:solidFill>
                  <a:srgbClr val="A7843D"/>
                </a:solidFill>
              </a:defRPr>
            </a:pPr>
            <a:r>
              <a:rPr dirty="0"/>
              <a:t>Step 3: Brands Insights (/v2/insights)</a:t>
            </a:r>
          </a:p>
          <a:p>
            <a:pPr>
              <a:defRPr sz="1000">
                <a:solidFill>
                  <a:srgbClr val="54504A"/>
                </a:solidFill>
              </a:defRPr>
            </a:pPr>
            <a:r>
              <a:rPr dirty="0"/>
              <a:t>Queries </a:t>
            </a:r>
            <a:r>
              <a:rPr dirty="0" err="1"/>
              <a:t>filter.type</a:t>
            </a:r>
            <a:r>
              <a:rPr dirty="0"/>
              <a:t>=</a:t>
            </a:r>
            <a:r>
              <a:rPr dirty="0" err="1"/>
              <a:t>urn:entity:brand</a:t>
            </a:r>
            <a:r>
              <a:rPr dirty="0"/>
              <a:t> to retrieve correlated lifestyle brands (e.g. </a:t>
            </a:r>
            <a:r>
              <a:rPr dirty="0" err="1"/>
              <a:t>Blinkist</a:t>
            </a:r>
            <a:r>
              <a:rPr dirty="0"/>
              <a:t>, Patagonia, Albion Fit).</a:t>
            </a:r>
          </a:p>
        </p:txBody>
      </p:sp>
      <p:sp>
        <p:nvSpPr>
          <p:cNvPr id="7" name="Rounded Rectangle 6"/>
          <p:cNvSpPr/>
          <p:nvPr/>
        </p:nvSpPr>
        <p:spPr>
          <a:xfrm>
            <a:off x="6035040" y="1828800"/>
            <a:ext cx="5394960" cy="4389120"/>
          </a:xfrm>
          <a:prstGeom prst="roundRect">
            <a:avLst/>
          </a:prstGeom>
          <a:solidFill>
            <a:srgbClr val="FFFFFF"/>
          </a:solidFill>
          <a:ln w="12700">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qloo_pet_results_1791987968196.png"/>
          <p:cNvPicPr>
            <a:picLocks noChangeAspect="1"/>
          </p:cNvPicPr>
          <p:nvPr/>
        </p:nvPicPr>
        <p:blipFill>
          <a:blip r:embed="rId3"/>
          <a:stretch>
            <a:fillRect/>
          </a:stretch>
        </p:blipFill>
        <p:spPr>
          <a:xfrm>
            <a:off x="6217920" y="2011680"/>
            <a:ext cx="5029200" cy="402336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5F0"/>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515600" cy="320040"/>
          </a:xfrm>
          <a:prstGeom prst="rect">
            <a:avLst/>
          </a:prstGeom>
          <a:noFill/>
        </p:spPr>
        <p:txBody>
          <a:bodyPr wrap="square">
            <a:spAutoFit/>
          </a:bodyPr>
          <a:lstStyle/>
          <a:p>
            <a:pPr>
              <a:defRPr sz="1000" b="1">
                <a:solidFill>
                  <a:srgbClr val="A7843D"/>
                </a:solidFill>
              </a:defRPr>
            </a:pPr>
            <a:r>
              <a:t>THE SCIENCE BEHIND THE MATCH</a:t>
            </a:r>
          </a:p>
        </p:txBody>
      </p:sp>
      <p:sp>
        <p:nvSpPr>
          <p:cNvPr id="3" name="TextBox 2"/>
          <p:cNvSpPr txBox="1"/>
          <p:nvPr/>
        </p:nvSpPr>
        <p:spPr>
          <a:xfrm>
            <a:off x="731520" y="685800"/>
            <a:ext cx="10515600" cy="640080"/>
          </a:xfrm>
          <a:prstGeom prst="rect">
            <a:avLst/>
          </a:prstGeom>
          <a:noFill/>
        </p:spPr>
        <p:txBody>
          <a:bodyPr wrap="square">
            <a:spAutoFit/>
          </a:bodyPr>
          <a:lstStyle/>
          <a:p>
            <a:pPr>
              <a:defRPr sz="2400" b="1">
                <a:solidFill>
                  <a:srgbClr val="211F1D"/>
                </a:solidFill>
              </a:defRPr>
            </a:pPr>
            <a:r>
              <a:t>Weighted Euclidean Trait Distance Modeling</a:t>
            </a:r>
          </a:p>
        </p:txBody>
      </p:sp>
      <p:sp>
        <p:nvSpPr>
          <p:cNvPr id="4" name="TextBox 3"/>
          <p:cNvSpPr txBox="1"/>
          <p:nvPr/>
        </p:nvSpPr>
        <p:spPr>
          <a:xfrm>
            <a:off x="731520" y="1234440"/>
            <a:ext cx="10515600" cy="411480"/>
          </a:xfrm>
          <a:prstGeom prst="rect">
            <a:avLst/>
          </a:prstGeom>
          <a:noFill/>
        </p:spPr>
        <p:txBody>
          <a:bodyPr wrap="square">
            <a:spAutoFit/>
          </a:bodyPr>
          <a:lstStyle/>
          <a:p>
            <a:pPr>
              <a:defRPr sz="1300">
                <a:solidFill>
                  <a:srgbClr val="54504A"/>
                </a:solidFill>
              </a:defRPr>
            </a:pPr>
            <a:r>
              <a:t>How the 5D Lifestyle Vector matches canine and feline profiles</a:t>
            </a:r>
          </a:p>
        </p:txBody>
      </p:sp>
      <p:sp>
        <p:nvSpPr>
          <p:cNvPr id="5" name="Rounded Rectangle 4"/>
          <p:cNvSpPr/>
          <p:nvPr/>
        </p:nvSpPr>
        <p:spPr>
          <a:xfrm>
            <a:off x="731520" y="1828800"/>
            <a:ext cx="5120640" cy="4389120"/>
          </a:xfrm>
          <a:prstGeom prst="roundRect">
            <a:avLst/>
          </a:prstGeom>
          <a:solidFill>
            <a:srgbClr val="FFFFFF"/>
          </a:solidFill>
          <a:ln w="12700">
            <a:solidFill>
              <a:srgbClr val="E7E2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2011680"/>
            <a:ext cx="4572000" cy="4023360"/>
          </a:xfrm>
          <a:prstGeom prst="rect">
            <a:avLst/>
          </a:prstGeom>
          <a:noFill/>
        </p:spPr>
        <p:txBody>
          <a:bodyPr wrap="square">
            <a:spAutoFit/>
          </a:bodyPr>
          <a:lstStyle/>
          <a:p>
            <a:pPr>
              <a:defRPr sz="1700" b="1">
                <a:solidFill>
                  <a:srgbClr val="211F1D"/>
                </a:solidFill>
              </a:defRPr>
            </a:pPr>
            <a:r>
              <a:rPr dirty="0"/>
              <a:t>The 5 Lifestyle Dimensions (Scale: 1.0 - 5.0)</a:t>
            </a:r>
          </a:p>
          <a:p>
            <a:pPr>
              <a:defRPr sz="1100" b="1">
                <a:solidFill>
                  <a:srgbClr val="A7843D"/>
                </a:solidFill>
              </a:defRPr>
            </a:pPr>
            <a:r>
              <a:rPr dirty="0"/>
              <a:t>🏃 Activity Level (Weight: 1.25): </a:t>
            </a:r>
            <a:r>
              <a:rPr b="0" dirty="0">
                <a:solidFill>
                  <a:srgbClr val="54504A"/>
                </a:solidFill>
              </a:rPr>
              <a:t>Couch &amp; book relaxation (1.0) vs. marathon trail running (5.0).</a:t>
            </a:r>
          </a:p>
          <a:p>
            <a:pPr>
              <a:defRPr sz="1100" b="1">
                <a:solidFill>
                  <a:srgbClr val="A7843D"/>
                </a:solidFill>
              </a:defRPr>
            </a:pPr>
            <a:r>
              <a:rPr dirty="0"/>
              <a:t>🏡 Living Space (Weight: 1.20): </a:t>
            </a:r>
            <a:r>
              <a:rPr b="0" dirty="0">
                <a:solidFill>
                  <a:srgbClr val="54504A"/>
                </a:solidFill>
              </a:rPr>
              <a:t>Micro-studio loft (1.0) vs. multi-acre fenced suburban house (5.0).</a:t>
            </a:r>
          </a:p>
          <a:p>
            <a:pPr>
              <a:defRPr sz="1100" b="1">
                <a:solidFill>
                  <a:srgbClr val="A7843D"/>
                </a:solidFill>
              </a:defRPr>
            </a:pPr>
            <a:r>
              <a:rPr dirty="0"/>
              <a:t>🤝 Social Exposure (Weight: 1.00): </a:t>
            </a:r>
            <a:r>
              <a:rPr b="0" dirty="0">
                <a:solidFill>
                  <a:srgbClr val="54504A"/>
                </a:solidFill>
              </a:rPr>
              <a:t>Solitary home sanctuary (1.0) vs. vibrant party host / busy venues (5.0).</a:t>
            </a:r>
          </a:p>
          <a:p>
            <a:pPr>
              <a:defRPr sz="1100" b="1">
                <a:solidFill>
                  <a:srgbClr val="A7843D"/>
                </a:solidFill>
              </a:defRPr>
            </a:pPr>
            <a:r>
              <a:rPr dirty="0"/>
              <a:t>⏱️ Home Routine (Weight: 1.00): </a:t>
            </a:r>
            <a:r>
              <a:rPr b="0" dirty="0">
                <a:solidFill>
                  <a:srgbClr val="54504A"/>
                </a:solidFill>
              </a:rPr>
              <a:t>Frequent flyer / long commutes (1.0) vs. 100% remote homebody (5.0).</a:t>
            </a:r>
          </a:p>
          <a:p>
            <a:pPr>
              <a:defRPr sz="1100" b="1">
                <a:solidFill>
                  <a:srgbClr val="A7843D"/>
                </a:solidFill>
              </a:defRPr>
            </a:pPr>
            <a:r>
              <a:rPr dirty="0"/>
              <a:t>🔊 Noise &amp; Vibe (Weight: 0.90): </a:t>
            </a:r>
            <a:r>
              <a:rPr b="0" dirty="0">
                <a:solidFill>
                  <a:srgbClr val="54504A"/>
                </a:solidFill>
              </a:rPr>
              <a:t>Pin-drop quiet required (1.0) vs. bustling, vocal household (5.0).</a:t>
            </a:r>
          </a:p>
        </p:txBody>
      </p:sp>
      <p:sp>
        <p:nvSpPr>
          <p:cNvPr id="7" name="Rounded Rectangle 6"/>
          <p:cNvSpPr/>
          <p:nvPr/>
        </p:nvSpPr>
        <p:spPr>
          <a:xfrm>
            <a:off x="6126480" y="1828800"/>
            <a:ext cx="5303520" cy="4389120"/>
          </a:xfrm>
          <a:prstGeom prst="roundRect">
            <a:avLst/>
          </a:prstGeom>
          <a:solidFill>
            <a:srgbClr val="FFFFFF"/>
          </a:solidFill>
          <a:ln w="12700">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00800" y="2011680"/>
            <a:ext cx="4754880" cy="4023360"/>
          </a:xfrm>
          <a:prstGeom prst="rect">
            <a:avLst/>
          </a:prstGeom>
          <a:noFill/>
        </p:spPr>
        <p:txBody>
          <a:bodyPr wrap="square">
            <a:spAutoFit/>
          </a:bodyPr>
          <a:lstStyle/>
          <a:p>
            <a:pPr>
              <a:defRPr sz="1700" b="1">
                <a:solidFill>
                  <a:srgbClr val="211F1D"/>
                </a:solidFill>
              </a:defRPr>
            </a:pPr>
            <a:r>
              <a:rPr dirty="0"/>
              <a:t>The Matching Equation</a:t>
            </a:r>
          </a:p>
          <a:p>
            <a:pPr>
              <a:defRPr sz="1200" b="1">
                <a:solidFill>
                  <a:srgbClr val="A7843D"/>
                </a:solidFill>
              </a:defRPr>
            </a:pPr>
            <a:r>
              <a:rPr dirty="0"/>
              <a:t>1. Weighted Euclidean Distance:</a:t>
            </a:r>
          </a:p>
          <a:p>
            <a:pPr>
              <a:defRPr sz="1300" b="1">
                <a:solidFill>
                  <a:srgbClr val="211F1D"/>
                </a:solidFill>
              </a:defRPr>
            </a:pPr>
            <a:r>
              <a:rPr dirty="0"/>
              <a:t>D(b) = √ [ Σ </a:t>
            </a:r>
            <a:r>
              <a:rPr dirty="0" err="1"/>
              <a:t>w_i</a:t>
            </a:r>
            <a:r>
              <a:rPr dirty="0"/>
              <a:t> · ( </a:t>
            </a:r>
            <a:r>
              <a:rPr dirty="0" err="1"/>
              <a:t>Lifestyle_i</a:t>
            </a:r>
            <a:r>
              <a:rPr dirty="0"/>
              <a:t>  -  </a:t>
            </a:r>
            <a:r>
              <a:rPr dirty="0" err="1"/>
              <a:t>Breed_Traits_b,i</a:t>
            </a:r>
            <a:r>
              <a:rPr dirty="0"/>
              <a:t> )² ]</a:t>
            </a:r>
          </a:p>
          <a:p>
            <a:pPr>
              <a:defRPr sz="1200" b="1">
                <a:solidFill>
                  <a:srgbClr val="A7843D"/>
                </a:solidFill>
              </a:defRPr>
            </a:pPr>
            <a:r>
              <a:rPr dirty="0"/>
              <a:t>2. Normalized Match Compatibility:</a:t>
            </a:r>
          </a:p>
          <a:p>
            <a:pPr>
              <a:defRPr sz="1300" b="1">
                <a:solidFill>
                  <a:srgbClr val="211F1D"/>
                </a:solidFill>
              </a:defRPr>
            </a:pPr>
            <a:r>
              <a:rPr dirty="0"/>
              <a:t>Match % = max( 50, (1 - D(b) / </a:t>
            </a:r>
            <a:r>
              <a:rPr dirty="0" err="1"/>
              <a:t>D_max</a:t>
            </a:r>
            <a:r>
              <a:rPr dirty="0"/>
              <a:t>) × 100 )</a:t>
            </a:r>
          </a:p>
          <a:p>
            <a:pPr>
              <a:defRPr sz="1200" b="1">
                <a:solidFill>
                  <a:srgbClr val="A7843D"/>
                </a:solidFill>
              </a:defRPr>
            </a:pPr>
            <a:r>
              <a:rPr dirty="0"/>
              <a:t>3. Explainable AI Divergence Analysis:</a:t>
            </a:r>
          </a:p>
          <a:p>
            <a:pPr>
              <a:defRPr sz="1000">
                <a:solidFill>
                  <a:srgbClr val="54504A"/>
                </a:solidFill>
              </a:defRPr>
            </a:pPr>
            <a:r>
              <a:rPr dirty="0"/>
              <a:t>The engine compares the user's vector to the breed's traits, isolates the closest alignments, and generates personalized 'Why It Fits Your Vibe' explanations (e.g., 'Matches your peaceful schedule while accommodating your studio space').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5F0"/>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515600" cy="320040"/>
          </a:xfrm>
          <a:prstGeom prst="rect">
            <a:avLst/>
          </a:prstGeom>
          <a:noFill/>
        </p:spPr>
        <p:txBody>
          <a:bodyPr wrap="square">
            <a:spAutoFit/>
          </a:bodyPr>
          <a:lstStyle/>
          <a:p>
            <a:pPr>
              <a:defRPr sz="1000" b="1">
                <a:solidFill>
                  <a:srgbClr val="A7843D"/>
                </a:solidFill>
              </a:defRPr>
            </a:pPr>
            <a:r>
              <a:t>PRODUCT SHOWCASE</a:t>
            </a:r>
          </a:p>
        </p:txBody>
      </p:sp>
      <p:sp>
        <p:nvSpPr>
          <p:cNvPr id="3" name="TextBox 2"/>
          <p:cNvSpPr txBox="1"/>
          <p:nvPr/>
        </p:nvSpPr>
        <p:spPr>
          <a:xfrm>
            <a:off x="731520" y="685800"/>
            <a:ext cx="10515600" cy="640080"/>
          </a:xfrm>
          <a:prstGeom prst="rect">
            <a:avLst/>
          </a:prstGeom>
          <a:noFill/>
        </p:spPr>
        <p:txBody>
          <a:bodyPr wrap="square">
            <a:spAutoFit/>
          </a:bodyPr>
          <a:lstStyle/>
          <a:p>
            <a:pPr>
              <a:defRPr sz="2400" b="1">
                <a:solidFill>
                  <a:srgbClr val="211F1D"/>
                </a:solidFill>
              </a:defRPr>
            </a:pPr>
            <a:r>
              <a:t>Luxury Atelier UI &amp; Real-Time Visualization</a:t>
            </a:r>
          </a:p>
        </p:txBody>
      </p:sp>
      <p:sp>
        <p:nvSpPr>
          <p:cNvPr id="4" name="TextBox 3"/>
          <p:cNvSpPr txBox="1"/>
          <p:nvPr/>
        </p:nvSpPr>
        <p:spPr>
          <a:xfrm>
            <a:off x="731520" y="1234440"/>
            <a:ext cx="10515600" cy="411480"/>
          </a:xfrm>
          <a:prstGeom prst="rect">
            <a:avLst/>
          </a:prstGeom>
          <a:noFill/>
        </p:spPr>
        <p:txBody>
          <a:bodyPr wrap="square">
            <a:spAutoFit/>
          </a:bodyPr>
          <a:lstStyle/>
          <a:p>
            <a:pPr>
              <a:defRPr sz="1300">
                <a:solidFill>
                  <a:srgbClr val="54504A"/>
                </a:solidFill>
              </a:defRPr>
            </a:pPr>
            <a:r>
              <a:t>Designed with warm beige, white, grey, gold, and HTML5 Canvas radar charts</a:t>
            </a:r>
          </a:p>
        </p:txBody>
      </p:sp>
      <p:sp>
        <p:nvSpPr>
          <p:cNvPr id="5" name="Rounded Rectangle 4"/>
          <p:cNvSpPr/>
          <p:nvPr/>
        </p:nvSpPr>
        <p:spPr>
          <a:xfrm>
            <a:off x="731520" y="1828800"/>
            <a:ext cx="5212080" cy="4389120"/>
          </a:xfrm>
          <a:prstGeom prst="roundRect">
            <a:avLst/>
          </a:prstGeom>
          <a:solidFill>
            <a:srgbClr val="FFFFFF"/>
          </a:solidFill>
          <a:ln w="12700">
            <a:solidFill>
              <a:srgbClr val="E7E2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dog_suggestions_with_photos_1791361452373.png"/>
          <p:cNvPicPr>
            <a:picLocks noChangeAspect="1"/>
          </p:cNvPicPr>
          <p:nvPr/>
        </p:nvPicPr>
        <p:blipFill>
          <a:blip r:embed="rId3"/>
          <a:stretch>
            <a:fillRect/>
          </a:stretch>
        </p:blipFill>
        <p:spPr>
          <a:xfrm>
            <a:off x="868680" y="1965960"/>
            <a:ext cx="4937760" cy="4114800"/>
          </a:xfrm>
          <a:prstGeom prst="rect">
            <a:avLst/>
          </a:prstGeom>
        </p:spPr>
      </p:pic>
      <p:sp>
        <p:nvSpPr>
          <p:cNvPr id="7" name="Rounded Rectangle 6"/>
          <p:cNvSpPr/>
          <p:nvPr/>
        </p:nvSpPr>
        <p:spPr>
          <a:xfrm>
            <a:off x="6217920" y="1828800"/>
            <a:ext cx="5212080" cy="4389120"/>
          </a:xfrm>
          <a:prstGeom prst="roundRect">
            <a:avLst/>
          </a:prstGeom>
          <a:solidFill>
            <a:srgbClr val="FFFFFF"/>
          </a:solidFill>
          <a:ln w="12700">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landing_page_1791361371332.png"/>
          <p:cNvPicPr>
            <a:picLocks noChangeAspect="1"/>
          </p:cNvPicPr>
          <p:nvPr/>
        </p:nvPicPr>
        <p:blipFill>
          <a:blip r:embed="rId4"/>
          <a:stretch>
            <a:fillRect/>
          </a:stretch>
        </p:blipFill>
        <p:spPr>
          <a:xfrm>
            <a:off x="6355080" y="1965960"/>
            <a:ext cx="4937760" cy="41148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5F0"/>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515600" cy="320040"/>
          </a:xfrm>
          <a:prstGeom prst="rect">
            <a:avLst/>
          </a:prstGeom>
          <a:noFill/>
        </p:spPr>
        <p:txBody>
          <a:bodyPr wrap="square">
            <a:spAutoFit/>
          </a:bodyPr>
          <a:lstStyle/>
          <a:p>
            <a:pPr>
              <a:defRPr sz="1000" b="1">
                <a:solidFill>
                  <a:srgbClr val="A7843D"/>
                </a:solidFill>
              </a:defRPr>
            </a:pPr>
            <a:r>
              <a:rPr dirty="0"/>
              <a:t>BUSINESS &amp; MARKET OPPORTUNITY</a:t>
            </a:r>
          </a:p>
        </p:txBody>
      </p:sp>
      <p:sp>
        <p:nvSpPr>
          <p:cNvPr id="3" name="TextBox 2"/>
          <p:cNvSpPr txBox="1"/>
          <p:nvPr/>
        </p:nvSpPr>
        <p:spPr>
          <a:xfrm>
            <a:off x="731520" y="685800"/>
            <a:ext cx="10515600" cy="640080"/>
          </a:xfrm>
          <a:prstGeom prst="rect">
            <a:avLst/>
          </a:prstGeom>
          <a:noFill/>
        </p:spPr>
        <p:txBody>
          <a:bodyPr wrap="square">
            <a:spAutoFit/>
          </a:bodyPr>
          <a:lstStyle/>
          <a:p>
            <a:pPr>
              <a:defRPr sz="2400" b="1">
                <a:solidFill>
                  <a:srgbClr val="211F1D"/>
                </a:solidFill>
              </a:defRPr>
            </a:pPr>
            <a:r>
              <a:t>$150 Billion Industry Meets Cultural AI</a:t>
            </a:r>
          </a:p>
        </p:txBody>
      </p:sp>
      <p:sp>
        <p:nvSpPr>
          <p:cNvPr id="4" name="TextBox 3"/>
          <p:cNvSpPr txBox="1"/>
          <p:nvPr/>
        </p:nvSpPr>
        <p:spPr>
          <a:xfrm>
            <a:off x="731520" y="1234440"/>
            <a:ext cx="10515600" cy="411480"/>
          </a:xfrm>
          <a:prstGeom prst="rect">
            <a:avLst/>
          </a:prstGeom>
          <a:noFill/>
        </p:spPr>
        <p:txBody>
          <a:bodyPr wrap="square">
            <a:spAutoFit/>
          </a:bodyPr>
          <a:lstStyle/>
          <a:p>
            <a:pPr>
              <a:defRPr sz="1300">
                <a:solidFill>
                  <a:srgbClr val="54504A"/>
                </a:solidFill>
              </a:defRPr>
            </a:pPr>
            <a:r>
              <a:t>How PawVibe drives revenue while improving animal welfare</a:t>
            </a:r>
          </a:p>
        </p:txBody>
      </p:sp>
      <p:sp>
        <p:nvSpPr>
          <p:cNvPr id="5" name="Rounded Rectangle 4"/>
          <p:cNvSpPr/>
          <p:nvPr/>
        </p:nvSpPr>
        <p:spPr>
          <a:xfrm>
            <a:off x="731520" y="1828800"/>
            <a:ext cx="3291840" cy="4389120"/>
          </a:xfrm>
          <a:prstGeom prst="roundRect">
            <a:avLst/>
          </a:prstGeom>
          <a:solidFill>
            <a:srgbClr val="FFFFFF"/>
          </a:solidFill>
          <a:ln w="12700">
            <a:solidFill>
              <a:srgbClr val="E7E2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2011680"/>
            <a:ext cx="2926080" cy="4023360"/>
          </a:xfrm>
          <a:prstGeom prst="rect">
            <a:avLst/>
          </a:prstGeom>
          <a:noFill/>
        </p:spPr>
        <p:txBody>
          <a:bodyPr wrap="square">
            <a:spAutoFit/>
          </a:bodyPr>
          <a:lstStyle/>
          <a:p>
            <a:pPr>
              <a:defRPr sz="3200" b="1">
                <a:solidFill>
                  <a:srgbClr val="A7843D"/>
                </a:solidFill>
              </a:defRPr>
            </a:pPr>
            <a:r>
              <a:rPr dirty="0"/>
              <a:t>$150B+</a:t>
            </a:r>
          </a:p>
          <a:p>
            <a:pPr>
              <a:defRPr sz="1300" b="1">
                <a:solidFill>
                  <a:srgbClr val="211F1D"/>
                </a:solidFill>
              </a:defRPr>
            </a:pPr>
            <a:r>
              <a:rPr dirty="0"/>
              <a:t>Global Pet Market</a:t>
            </a:r>
            <a:br>
              <a:rPr dirty="0"/>
            </a:br>
            <a:endParaRPr dirty="0"/>
          </a:p>
          <a:p>
            <a:pPr>
              <a:defRPr sz="1100">
                <a:solidFill>
                  <a:srgbClr val="54504A"/>
                </a:solidFill>
              </a:defRPr>
            </a:pPr>
            <a:r>
              <a:rPr dirty="0"/>
              <a:t>Over 86 million US households own pets. Pet parents spend more on premium nutrition, ethical adoptions, and lifestyle gear than ever before. </a:t>
            </a:r>
            <a:r>
              <a:rPr dirty="0" err="1"/>
              <a:t>PawVibe</a:t>
            </a:r>
            <a:r>
              <a:rPr dirty="0"/>
              <a:t> enters as an indispensable discovery gateway at the exact moment of adoption decision.</a:t>
            </a:r>
          </a:p>
        </p:txBody>
      </p:sp>
      <p:sp>
        <p:nvSpPr>
          <p:cNvPr id="7" name="Rounded Rectangle 6"/>
          <p:cNvSpPr/>
          <p:nvPr/>
        </p:nvSpPr>
        <p:spPr>
          <a:xfrm>
            <a:off x="4389120" y="1828800"/>
            <a:ext cx="3291840" cy="4389120"/>
          </a:xfrm>
          <a:prstGeom prst="roundRect">
            <a:avLst/>
          </a:prstGeom>
          <a:solidFill>
            <a:srgbClr val="FFFFFF"/>
          </a:solidFill>
          <a:ln w="12700">
            <a:solidFill>
              <a:srgbClr val="E7E2D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4526280" y="1828800"/>
            <a:ext cx="2926080" cy="4023360"/>
          </a:xfrm>
          <a:prstGeom prst="rect">
            <a:avLst/>
          </a:prstGeom>
          <a:noFill/>
        </p:spPr>
        <p:txBody>
          <a:bodyPr wrap="square">
            <a:spAutoFit/>
          </a:bodyPr>
          <a:lstStyle/>
          <a:p>
            <a:pPr>
              <a:defRPr sz="2800" b="1">
                <a:solidFill>
                  <a:srgbClr val="211F1D"/>
                </a:solidFill>
              </a:defRPr>
            </a:pPr>
            <a:r>
              <a:rPr dirty="0"/>
              <a:t>Monetization</a:t>
            </a:r>
          </a:p>
          <a:p>
            <a:pPr>
              <a:defRPr sz="1300" b="1">
                <a:solidFill>
                  <a:srgbClr val="A7843D"/>
                </a:solidFill>
              </a:defRPr>
            </a:pPr>
            <a:r>
              <a:rPr dirty="0"/>
              <a:t>High-Margin Channels</a:t>
            </a:r>
            <a:br>
              <a:rPr dirty="0"/>
            </a:br>
            <a:endParaRPr dirty="0"/>
          </a:p>
          <a:p>
            <a:pPr>
              <a:defRPr sz="1000">
                <a:solidFill>
                  <a:srgbClr val="54504A"/>
                </a:solidFill>
              </a:defRPr>
            </a:pPr>
            <a:r>
              <a:rPr dirty="0"/>
              <a:t>• Adoption &amp; Rescue Referral Fees with verified ethical breeders and shelter networks.</a:t>
            </a:r>
          </a:p>
          <a:p>
            <a:pPr>
              <a:defRPr sz="1000">
                <a:solidFill>
                  <a:srgbClr val="54504A"/>
                </a:solidFill>
              </a:defRPr>
            </a:pPr>
            <a:r>
              <a:rPr dirty="0"/>
              <a:t>• Targeted Affiliate Commerce: </a:t>
            </a:r>
            <a:r>
              <a:rPr dirty="0" err="1"/>
              <a:t>Qloo</a:t>
            </a:r>
            <a:r>
              <a:rPr dirty="0"/>
              <a:t> brand affinities recommend tailored gear (e.g. Patagonia owner → </a:t>
            </a:r>
            <a:r>
              <a:rPr dirty="0" err="1"/>
              <a:t>Ruffwear</a:t>
            </a:r>
            <a:r>
              <a:rPr dirty="0"/>
              <a:t> outdoor harness).</a:t>
            </a:r>
          </a:p>
          <a:p>
            <a:pPr>
              <a:defRPr sz="1000">
                <a:solidFill>
                  <a:srgbClr val="54504A"/>
                </a:solidFill>
              </a:defRPr>
            </a:pPr>
            <a:r>
              <a:rPr dirty="0"/>
              <a:t>• Pet Insurance &amp; Vet Plans integrated at the point of match.</a:t>
            </a:r>
          </a:p>
        </p:txBody>
      </p:sp>
      <p:sp>
        <p:nvSpPr>
          <p:cNvPr id="9" name="Rounded Rectangle 8"/>
          <p:cNvSpPr/>
          <p:nvPr/>
        </p:nvSpPr>
        <p:spPr>
          <a:xfrm>
            <a:off x="8046720" y="1828800"/>
            <a:ext cx="3383280" cy="4389120"/>
          </a:xfrm>
          <a:prstGeom prst="roundRect">
            <a:avLst/>
          </a:prstGeom>
          <a:solidFill>
            <a:srgbClr val="F3EFE8"/>
          </a:solidFill>
          <a:ln w="12700">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229600" y="2011680"/>
            <a:ext cx="3017520" cy="4023360"/>
          </a:xfrm>
          <a:prstGeom prst="rect">
            <a:avLst/>
          </a:prstGeom>
          <a:noFill/>
        </p:spPr>
        <p:txBody>
          <a:bodyPr wrap="square">
            <a:spAutoFit/>
          </a:bodyPr>
          <a:lstStyle/>
          <a:p>
            <a:pPr>
              <a:defRPr sz="2800" b="1">
                <a:solidFill>
                  <a:srgbClr val="A7843D"/>
                </a:solidFill>
              </a:defRPr>
            </a:pPr>
            <a:r>
              <a:rPr dirty="0"/>
              <a:t>Social Impact</a:t>
            </a:r>
          </a:p>
          <a:p>
            <a:pPr>
              <a:defRPr sz="1300" b="1">
                <a:solidFill>
                  <a:srgbClr val="211F1D"/>
                </a:solidFill>
              </a:defRPr>
            </a:pPr>
            <a:r>
              <a:rPr dirty="0"/>
              <a:t>Preventing Surrenders</a:t>
            </a:r>
            <a:br>
              <a:rPr dirty="0"/>
            </a:br>
            <a:endParaRPr dirty="0"/>
          </a:p>
          <a:p>
            <a:pPr>
              <a:defRPr sz="1100">
                <a:solidFill>
                  <a:srgbClr val="54504A"/>
                </a:solidFill>
              </a:defRPr>
            </a:pPr>
            <a:r>
              <a:rPr dirty="0"/>
              <a:t>By steering adopters away from mismatched breeds and towards pets whose energy and space needs fit their real lives, </a:t>
            </a:r>
            <a:r>
              <a:rPr dirty="0" err="1"/>
              <a:t>PawVibe</a:t>
            </a:r>
            <a:r>
              <a:rPr dirty="0"/>
              <a:t> directly targets the root cause of shelter rehoming. Measurable ESG impact combined with venture-scale economics.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5F0"/>
        </a:solidFill>
        <a:effectLst/>
      </p:bgPr>
    </p:bg>
    <p:spTree>
      <p:nvGrpSpPr>
        <p:cNvPr id="1" name=""/>
        <p:cNvGrpSpPr/>
        <p:nvPr/>
      </p:nvGrpSpPr>
      <p:grpSpPr>
        <a:xfrm>
          <a:off x="0" y="0"/>
          <a:ext cx="0" cy="0"/>
          <a:chOff x="0" y="0"/>
          <a:chExt cx="0" cy="0"/>
        </a:xfrm>
      </p:grpSpPr>
      <p:sp>
        <p:nvSpPr>
          <p:cNvPr id="2" name="TextBox 1"/>
          <p:cNvSpPr txBox="1"/>
          <p:nvPr/>
        </p:nvSpPr>
        <p:spPr>
          <a:xfrm>
            <a:off x="731520" y="411480"/>
            <a:ext cx="10515600" cy="320040"/>
          </a:xfrm>
          <a:prstGeom prst="rect">
            <a:avLst/>
          </a:prstGeom>
          <a:noFill/>
        </p:spPr>
        <p:txBody>
          <a:bodyPr wrap="square">
            <a:spAutoFit/>
          </a:bodyPr>
          <a:lstStyle/>
          <a:p>
            <a:pPr>
              <a:defRPr sz="1000" b="1">
                <a:solidFill>
                  <a:srgbClr val="A7843D"/>
                </a:solidFill>
              </a:defRPr>
            </a:pPr>
            <a:r>
              <a:t>SUMMARY &amp; VISION</a:t>
            </a:r>
          </a:p>
        </p:txBody>
      </p:sp>
      <p:sp>
        <p:nvSpPr>
          <p:cNvPr id="3" name="TextBox 2"/>
          <p:cNvSpPr txBox="1"/>
          <p:nvPr/>
        </p:nvSpPr>
        <p:spPr>
          <a:xfrm>
            <a:off x="731520" y="685800"/>
            <a:ext cx="10515600" cy="640080"/>
          </a:xfrm>
          <a:prstGeom prst="rect">
            <a:avLst/>
          </a:prstGeom>
          <a:noFill/>
        </p:spPr>
        <p:txBody>
          <a:bodyPr wrap="square">
            <a:spAutoFit/>
          </a:bodyPr>
          <a:lstStyle/>
          <a:p>
            <a:pPr>
              <a:defRPr sz="2400" b="1">
                <a:solidFill>
                  <a:srgbClr val="211F1D"/>
                </a:solidFill>
              </a:defRPr>
            </a:pPr>
            <a:r>
              <a:t>Why PawVibe Wins This Hackathon</a:t>
            </a:r>
          </a:p>
        </p:txBody>
      </p:sp>
      <p:sp>
        <p:nvSpPr>
          <p:cNvPr id="4" name="TextBox 3"/>
          <p:cNvSpPr txBox="1"/>
          <p:nvPr/>
        </p:nvSpPr>
        <p:spPr>
          <a:xfrm>
            <a:off x="731520" y="1234440"/>
            <a:ext cx="10515600" cy="411480"/>
          </a:xfrm>
          <a:prstGeom prst="rect">
            <a:avLst/>
          </a:prstGeom>
          <a:noFill/>
        </p:spPr>
        <p:txBody>
          <a:bodyPr wrap="square">
            <a:spAutoFit/>
          </a:bodyPr>
          <a:lstStyle/>
          <a:p>
            <a:pPr>
              <a:defRPr sz="1300">
                <a:solidFill>
                  <a:srgbClr val="54504A"/>
                </a:solidFill>
              </a:defRPr>
            </a:pPr>
            <a:r>
              <a:t>The intersection of cultural AI, animal welfare, and live execution</a:t>
            </a:r>
          </a:p>
        </p:txBody>
      </p:sp>
      <p:sp>
        <p:nvSpPr>
          <p:cNvPr id="5" name="Rounded Rectangle 4"/>
          <p:cNvSpPr/>
          <p:nvPr/>
        </p:nvSpPr>
        <p:spPr>
          <a:xfrm>
            <a:off x="731520" y="1828800"/>
            <a:ext cx="10728655" cy="4389120"/>
          </a:xfrm>
          <a:prstGeom prst="roundRect">
            <a:avLst/>
          </a:prstGeom>
          <a:solidFill>
            <a:srgbClr val="FFFFFF"/>
          </a:solidFill>
          <a:ln w="12700">
            <a:solidFill>
              <a:srgbClr val="C5A05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97280" y="2011680"/>
            <a:ext cx="10058400" cy="2277547"/>
          </a:xfrm>
          <a:prstGeom prst="rect">
            <a:avLst/>
          </a:prstGeom>
          <a:noFill/>
        </p:spPr>
        <p:txBody>
          <a:bodyPr wrap="square">
            <a:spAutoFit/>
          </a:bodyPr>
          <a:lstStyle/>
          <a:p>
            <a:pPr>
              <a:defRPr sz="2200" b="1">
                <a:solidFill>
                  <a:srgbClr val="211F1D"/>
                </a:solidFill>
              </a:defRPr>
            </a:pPr>
            <a:r>
              <a:rPr dirty="0"/>
              <a:t>Key Takeaways</a:t>
            </a:r>
          </a:p>
          <a:p>
            <a:pPr>
              <a:defRPr sz="1200" b="1">
                <a:solidFill>
                  <a:srgbClr val="A7843D"/>
                </a:solidFill>
              </a:defRPr>
            </a:pPr>
            <a:r>
              <a:rPr dirty="0"/>
              <a:t>1. Novel &amp; Untapped Application of </a:t>
            </a:r>
            <a:r>
              <a:rPr dirty="0" err="1"/>
              <a:t>Qloo</a:t>
            </a:r>
            <a:r>
              <a:rPr dirty="0"/>
              <a:t>: </a:t>
            </a:r>
            <a:r>
              <a:rPr b="0" dirty="0">
                <a:solidFill>
                  <a:srgbClr val="54504A"/>
                </a:solidFill>
              </a:rPr>
              <a:t>Most hackathon projects use </a:t>
            </a:r>
            <a:r>
              <a:rPr b="0" dirty="0" err="1">
                <a:solidFill>
                  <a:srgbClr val="54504A"/>
                </a:solidFill>
              </a:rPr>
              <a:t>Qloo</a:t>
            </a:r>
            <a:r>
              <a:rPr b="0" dirty="0">
                <a:solidFill>
                  <a:srgbClr val="54504A"/>
                </a:solidFill>
              </a:rPr>
              <a:t> for playlist or restaurant recommendations. </a:t>
            </a:r>
            <a:r>
              <a:rPr b="0" dirty="0" err="1">
                <a:solidFill>
                  <a:srgbClr val="54504A"/>
                </a:solidFill>
              </a:rPr>
              <a:t>PawVibe</a:t>
            </a:r>
            <a:r>
              <a:rPr b="0" dirty="0">
                <a:solidFill>
                  <a:srgbClr val="54504A"/>
                </a:solidFill>
              </a:rPr>
              <a:t> proves that cultural affinities can solve critical behavioral problems in animal welfare and consumer lifestyle.</a:t>
            </a:r>
          </a:p>
          <a:p>
            <a:pPr>
              <a:defRPr sz="1200" b="1">
                <a:solidFill>
                  <a:srgbClr val="A7843D"/>
                </a:solidFill>
              </a:defRPr>
            </a:pPr>
            <a:r>
              <a:rPr dirty="0"/>
              <a:t>2. Fully Built &amp; Tested with Live API: </a:t>
            </a:r>
            <a:r>
              <a:rPr b="0" dirty="0">
                <a:solidFill>
                  <a:srgbClr val="54504A"/>
                </a:solidFill>
              </a:rPr>
              <a:t>Not a mock-up. Authenticated against https://hackathon.api.qloo.com, executing live /search and /v2/insights requests, backed by </a:t>
            </a:r>
            <a:r>
              <a:rPr b="0" dirty="0" err="1">
                <a:solidFill>
                  <a:srgbClr val="54504A"/>
                </a:solidFill>
              </a:rPr>
              <a:t>FastAPI</a:t>
            </a:r>
            <a:r>
              <a:rPr b="0" dirty="0">
                <a:solidFill>
                  <a:srgbClr val="54504A"/>
                </a:solidFill>
              </a:rPr>
              <a:t> and modern HTML5 Canvas visualization.</a:t>
            </a:r>
          </a:p>
          <a:p>
            <a:pPr>
              <a:defRPr sz="1200" b="1">
                <a:solidFill>
                  <a:srgbClr val="A7843D"/>
                </a:solidFill>
              </a:defRPr>
            </a:pPr>
            <a:r>
              <a:rPr dirty="0"/>
              <a:t>3. Luxury Atelier User Experience: </a:t>
            </a:r>
            <a:r>
              <a:rPr b="0" dirty="0">
                <a:solidFill>
                  <a:srgbClr val="54504A"/>
                </a:solidFill>
              </a:rPr>
              <a:t>Tailored with a refined Beige, White, Grey, and Gold palette, flat vector iconography, and verified breed photography that wows users at first glance.</a:t>
            </a:r>
          </a:p>
          <a:p>
            <a:pPr>
              <a:defRPr sz="1200" b="1">
                <a:solidFill>
                  <a:srgbClr val="A7843D"/>
                </a:solidFill>
              </a:defRPr>
            </a:pPr>
            <a:r>
              <a:rPr dirty="0"/>
              <a:t>4. Scalable Roadmap: </a:t>
            </a:r>
            <a:r>
              <a:rPr b="0" dirty="0">
                <a:solidFill>
                  <a:srgbClr val="54504A"/>
                </a:solidFill>
              </a:rPr>
              <a:t>Expanding from 24 breeds to regional shelter integrations, adoptable pet pet-matching APIs, and multi-pet household dynamics.</a:t>
            </a:r>
          </a:p>
          <a:p>
            <a:br>
              <a:rPr dirty="0"/>
            </a:br>
            <a:r>
              <a:rPr dirty="0"/>
              <a:t>🐾 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TotalTime>
  <Words>1811</Words>
  <Application>Microsoft Office PowerPoint</Application>
  <PresentationFormat>Widescreen</PresentationFormat>
  <Paragraphs>97</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Supriyo Dey</dc:creator>
  <cp:keywords/>
  <dc:description>generated using python-pptx</dc:description>
  <cp:lastModifiedBy>Supriyo Dey</cp:lastModifiedBy>
  <cp:revision>3</cp:revision>
  <dcterms:created xsi:type="dcterms:W3CDTF">2013-01-27T09:14:16Z</dcterms:created>
  <dcterms:modified xsi:type="dcterms:W3CDTF">2026-10-28T16:07:47Z</dcterms:modified>
  <cp:category/>
</cp:coreProperties>
</file>